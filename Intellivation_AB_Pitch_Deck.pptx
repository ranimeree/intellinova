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01 /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3657600"/>
          </a:xfrm>
          <a:prstGeom prst="rect">
            <a:avLst/>
          </a:prstGeom>
          <a:solidFill>
            <a:srgbClr val="0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640080"/>
            <a:ext cx="2743200" cy="1837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E5FF"/>
                </a:solidFill>
                <a:latin typeface="Calibri"/>
              </a:rPr>
              <a:t>Building AI products that improve everyday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2A4"/>
                </a:solidFill>
                <a:latin typeface="Calibri"/>
              </a:rPr>
              <a:t>We are a Swedish AI startup. We build intelligent consumer products, deliver AI projects for partners, and help businesses implement AI. One belief drives us: AI should improve real lives, not just enterprise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5074920"/>
            <a:ext cx="2061972" cy="274320"/>
          </a:xfrm>
          <a:prstGeom prst="rect">
            <a:avLst/>
          </a:prstGeom>
          <a:solidFill>
            <a:srgbClr val="11111A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5120640"/>
            <a:ext cx="20619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5FF"/>
                </a:solidFill>
                <a:latin typeface="Calibri"/>
              </a:rPr>
              <a:t>4 Products in Portfolio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5524" y="5074920"/>
            <a:ext cx="1673352" cy="274320"/>
          </a:xfrm>
          <a:prstGeom prst="rect">
            <a:avLst/>
          </a:prstGeom>
          <a:solidFill>
            <a:srgbClr val="11111A"/>
          </a:solidFill>
          <a:ln w="9525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5252" y="5120640"/>
            <a:ext cx="1673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Eskilstuna, Sweden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3468" y="5074920"/>
            <a:ext cx="1517904" cy="274320"/>
          </a:xfrm>
          <a:prstGeom prst="rect">
            <a:avLst/>
          </a:prstGeom>
          <a:solidFill>
            <a:srgbClr val="11111A"/>
          </a:solidFill>
          <a:ln w="9525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3196" y="5120640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Org: 559579-9932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02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097280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9377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WHO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4F5"/>
                </a:solidFill>
                <a:latin typeface="Calibri"/>
              </a:rPr>
              <a:t>An AI startup that
</a:t>
            </a:r>
            <a:r>
              <a:rPr sz="2400" b="1">
                <a:solidFill>
                  <a:srgbClr val="00E5FF"/>
                </a:solidFill>
                <a:latin typeface="Calibri"/>
              </a:rPr>
              <a:t>builds and 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Intellivation AB was incorporated in 2026, but the work started long before. We build AI-powered products where the intelligence is the product. Not a wrapper, not a chatbot add-on. We also take on client and partner projects to stay close to real business problems and fund product development.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42032"/>
            <a:ext cx="24688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🎯 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alibri"/>
              </a:rPr>
              <a:t>Make AI accessible and genuinely useful for ordinary people.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542032"/>
            <a:ext cx="265176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26060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⚡ 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alibri"/>
              </a:rPr>
              <a:t>Build, ship, and scale AI products with proven traction.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57200"/>
            <a:ext cx="41148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457200"/>
            <a:ext cx="5166360" cy="822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PILLAR 1 · OUR OWN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6949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Consumer AI we own and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914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alibri"/>
              </a:rPr>
              <a:t>CalorAI and Realify are built by Intellivation AB, owned by Intellivation AB, and scaled by us. These are the products where we capture long-term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89888"/>
            <a:ext cx="41148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389888"/>
            <a:ext cx="5166360" cy="822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4538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AA"/>
                </a:solidFill>
                <a:latin typeface="Calibri"/>
              </a:rPr>
              <a:t>PILLAR 2 · AI PARTNERSHIPS &amp;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16276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Co-ventures and technical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8470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alibri"/>
              </a:rPr>
              <a:t>We are a technical co-venture partner on Almukhtabar (News Lab) and delivered JuraCare end-to-end. We build production AI in real domains.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22576"/>
            <a:ext cx="41148" cy="8229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322576"/>
            <a:ext cx="5166360" cy="822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38658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8C42"/>
                </a:solidFill>
                <a:latin typeface="Calibri"/>
              </a:rPr>
              <a:t>PILLAR 3 · AI CONSULTANCY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56032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Revenue today, insights for tomorrow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779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alibri"/>
              </a:rPr>
              <a:t>Strategic AI consulting for Swedish businesses. Revenue that funds product development and keeps us close to real enterprise AI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03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548993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93776"/>
            <a:ext cx="15489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THE PROBLEM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4F4F5"/>
                </a:solidFill>
                <a:latin typeface="Calibri"/>
              </a:rPr>
              <a:t>AI is ready.
</a:t>
            </a:r>
            <a:r>
              <a:rPr sz="2400" b="1">
                <a:solidFill>
                  <a:srgbClr val="00E5FF"/>
                </a:solidFill>
                <a:latin typeface="Calibri"/>
              </a:rPr>
              <a:t>Adoption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The technology exists. The gap is that most people and businesses cannot access it in a form that is frictionless, trustworthy, or specific enough to change behaviour.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0352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420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32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Health: 1B+ people failing at nutrition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51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Existing apps require 10+ minutes/day of manual logging. 80% of users quit within 30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530352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009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912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Trust: AI-generated content is indistinguishable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410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Deepfakes of public figures, AI videos for children. The internet has a reality crisis.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95344"/>
            <a:ext cx="530352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059935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950207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Business: Swedish SMEs cannot implement AI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6966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78% want to adopt AI but lack in-house expertise. Dominated by expensive consultancies.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57200"/>
            <a:ext cx="5212080" cy="1234440"/>
          </a:xfrm>
          <a:prstGeom prst="rect">
            <a:avLst/>
          </a:prstGeom>
          <a:solidFill>
            <a:srgbClr val="061418"/>
          </a:solidFill>
          <a:ln w="6350">
            <a:solidFill>
              <a:srgbClr val="0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6692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E5FF"/>
                </a:solidFill>
                <a:latin typeface="Calibri"/>
              </a:rPr>
              <a:t>$4T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A4"/>
                </a:solidFill>
                <a:latin typeface="Calibri"/>
              </a:rPr>
              <a:t>Annual global cost of diet-related chronic disease. Just one of the problem spaces.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128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Nutrition app abandonment in 30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1828800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9202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  <a:latin typeface="Calibri"/>
              </a:rPr>
              <a:t>$15B+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2128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Health &amp; fitness app market 17% CAGR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828800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9202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42"/>
                </a:solidFill>
                <a:latin typeface="Calibri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2128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Swedish SMEs wanting but lacking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24328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15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584"/>
                </a:solidFill>
                <a:latin typeface="Calibri"/>
              </a:rPr>
              <a:t>1B+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0083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People managing diet-related conditions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2624328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2715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  <a:latin typeface="Calibri"/>
              </a:rPr>
              <a:t>17%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0083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CAGR health &amp; fitness apps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2624328"/>
            <a:ext cx="155448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7157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2A4"/>
                </a:solidFill>
                <a:latin typeface="Calibri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0083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Year we are shipping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04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548993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6615"/>
            <a:ext cx="15489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PROJECT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4F4F5"/>
                </a:solidFill>
                <a:latin typeface="Calibri"/>
              </a:rPr>
              <a:t>Four products. </a:t>
            </a:r>
            <a:r>
              <a:rPr sz="2600" b="1">
                <a:solidFill>
                  <a:srgbClr val="00E5FF"/>
                </a:solidFill>
                <a:latin typeface="Calibri"/>
              </a:rPr>
              <a:t>Just the beginning.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2697480" cy="3108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26974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or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05840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8288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OWNED BY INTELLIVATION AB ·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5"/>
                </a:solidFill>
                <a:latin typeface="Calibri"/>
              </a:rPr>
              <a:t>CalorAI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AI nutrition app with computer vision food tracking, 30+ nutrient analysis, AI coach, and social gamification.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91839"/>
            <a:ext cx="121158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10127"/>
            <a:ext cx="12115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5FF"/>
                </a:solidFill>
                <a:latin typeface="Calibri"/>
              </a:rPr>
              <a:t>120K+ Downloads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11296"/>
            <a:ext cx="937259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29584"/>
            <a:ext cx="937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  <a:latin typeface="Calibri"/>
              </a:rPr>
              <a:t>4.6★ Rating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30752"/>
            <a:ext cx="937259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749039"/>
            <a:ext cx="937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  <a:latin typeface="Calibri"/>
              </a:rPr>
              <a:t>500K+ Meals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325880"/>
            <a:ext cx="2697480" cy="3108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325880"/>
            <a:ext cx="26974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lmukht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417320"/>
            <a:ext cx="1005840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38728" y="18288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8C42"/>
                </a:solidFill>
                <a:latin typeface="Calibri"/>
              </a:rPr>
              <a:t>CO-VENTURE ·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011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5"/>
                </a:solidFill>
                <a:latin typeface="Calibri"/>
              </a:rPr>
              <a:t>Almukhtabar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AI-powered newsroom editor and publishing workspace. Structured editorial workflow with AI writing assistance.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8728" y="3291839"/>
            <a:ext cx="86868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57016" y="3310127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  <a:latin typeface="Calibri"/>
              </a:rPr>
              <a:t>newslb.com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8728" y="3511296"/>
            <a:ext cx="45720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35295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C42"/>
                </a:solidFill>
                <a:latin typeface="Calibri"/>
              </a:rPr>
              <a:t>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325880"/>
            <a:ext cx="2697480" cy="3108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325880"/>
            <a:ext cx="26974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jurac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417320"/>
            <a:ext cx="1005840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91656" y="18288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AA"/>
                </a:solidFill>
                <a:latin typeface="Calibri"/>
              </a:rPr>
              <a:t>BUILT AND OPERATED BY INTELLIVATION ·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11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5"/>
                </a:solidFill>
                <a:latin typeface="Calibri"/>
              </a:rPr>
              <a:t>JuraCare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AI legal assistant trained on Swedish law. Instant answers, document analysis, compliance monitoring.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91656" y="3291839"/>
            <a:ext cx="937259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310127"/>
            <a:ext cx="937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  <a:latin typeface="Calibri"/>
              </a:rPr>
              <a:t>juracare.se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656" y="3511296"/>
            <a:ext cx="45720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352958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  <a:latin typeface="Calibri"/>
              </a:rPr>
              <a:t>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07424" y="1325880"/>
            <a:ext cx="2697480" cy="310896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07424" y="1325880"/>
            <a:ext cx="2697480" cy="36576"/>
          </a:xfrm>
          <a:prstGeom prst="rect">
            <a:avLst/>
          </a:prstGeom>
          <a:solidFill>
            <a:srgbClr val="889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eal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1417320"/>
            <a:ext cx="1005840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44584" y="182880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92A4"/>
                </a:solidFill>
                <a:latin typeface="Calibri"/>
              </a:rPr>
              <a:t>OWNED BY INTELLIVATION AB · R&amp;D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011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5"/>
                </a:solidFill>
                <a:latin typeface="Calibri"/>
              </a:rPr>
              <a:t>Realify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286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AI and real content detection platform. Labels AI-generated videos for adults, filters for children, with authenticity stamps.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91839"/>
            <a:ext cx="114300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3310127"/>
            <a:ext cx="1143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92A4"/>
                </a:solidFill>
                <a:latin typeface="Calibri"/>
              </a:rPr>
              <a:t>In Development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4584" y="3511296"/>
            <a:ext cx="662940" cy="182880"/>
          </a:xfrm>
          <a:prstGeom prst="rect">
            <a:avLst/>
          </a:prstGeom>
          <a:solidFill>
            <a:srgbClr val="081218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3529584"/>
            <a:ext cx="6629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92A4"/>
                </a:solidFill>
                <a:latin typeface="Calibri"/>
              </a:rPr>
              <a:t>Stealth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5"/>
                </a:solidFill>
                <a:latin typeface="Calibri"/>
              </a:rPr>
              <a:t>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3648456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96696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OWNED BY INTELLIVATION AB · LIVE · HEALTHTECH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E5FF"/>
                </a:solidFill>
                <a:latin typeface="Calibri"/>
              </a:rPr>
              <a:t>CalorAI</a:t>
            </a:r>
            <a:r>
              <a:rPr sz="2400" b="1">
                <a:solidFill>
                  <a:srgbClr val="F4F4F5"/>
                </a:solidFill>
                <a:latin typeface="Calibri"/>
              </a:rPr>
              <a:t>
AI Nutrition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Log meals in under 10 seconds using computer vision. CalorAI identifies food automatically, estimates portions, and tracks 30+ nutrients. No manual entry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1554480" cy="713232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120K+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Downloads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926080"/>
            <a:ext cx="1554480" cy="713232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0175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  <a:latin typeface="Calibri"/>
              </a:rPr>
              <a:t>500K+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310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Meals Logged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926080"/>
            <a:ext cx="1554480" cy="713232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  <a:latin typeface="Calibri"/>
              </a:rPr>
              <a:t>4.6★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10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A4"/>
                </a:solidFill>
                <a:latin typeface="Calibri"/>
              </a:rPr>
              <a:t>Google 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67328"/>
            <a:ext cx="118871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03904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  <a:latin typeface="Calibri"/>
              </a:rPr>
              <a:t>Computer 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767328"/>
            <a:ext cx="332841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1952" y="3803904"/>
            <a:ext cx="3328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  <a:latin typeface="Calibri"/>
              </a:rPr>
              <a:t>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3081" y="3767328"/>
            <a:ext cx="859536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6233" y="3803904"/>
            <a:ext cx="859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AA"/>
                </a:solidFill>
                <a:latin typeface="Calibri"/>
              </a:rPr>
              <a:t>Mobile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4057" y="3767328"/>
            <a:ext cx="79369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7209" y="3803904"/>
            <a:ext cx="79369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AA"/>
                </a:solidFill>
                <a:latin typeface="Calibri"/>
              </a:rPr>
              <a:t>NLP Coach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9196" y="3767328"/>
            <a:ext cx="925372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2348" y="3803904"/>
            <a:ext cx="9253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Google 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  <a:latin typeface="Calibri"/>
              </a:rPr>
              <a:t>6 WAYS TO LOG A MEAL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65836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7498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768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Snap a photo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65836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7498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7680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Live video scan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16128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1252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🖼️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127101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Upload image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16128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1252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⌨️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127101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Type food 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66420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17556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773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Voice command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1664208"/>
            <a:ext cx="2560320" cy="40233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17556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1773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Saved meals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2219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  <a:latin typeface="Calibri"/>
              </a:rPr>
              <a:t>30+ NUTRIENTS TRACKED AUTOMATICALLY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514600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2569464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25877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Vitamins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278892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D, C, B12, A, 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514600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2569464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⚙️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25877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Minerals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278892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Iron, Calcium, Zinc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2514600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2569464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33888" y="25877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Macros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78892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Protein, Carbs, Fat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136392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0528" y="3191256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76288" y="320954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Hydration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76288" y="341071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Daily water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136392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7" y="3191256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5088" y="320954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Omega-3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341071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EPA &amp; DHA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3136392"/>
            <a:ext cx="169164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68128" y="3191256"/>
            <a:ext cx="320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5"/>
                </a:solidFill>
                <a:latin typeface="Calibri"/>
              </a:rPr>
              <a:t>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33888" y="320954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F4F5"/>
                </a:solidFill>
                <a:latin typeface="Calibri"/>
              </a:rPr>
              <a:t>Energy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33888" y="341071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TDEE &amp; BMR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858768"/>
            <a:ext cx="5486400" cy="54864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39776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🏆  Social Hub &amp; Gamification — leaderboards, badges, shared meals, 3x retention.   🧠  AI Nutrition Coach — 24/7 personalised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5"/>
                </a:solidFill>
                <a:latin typeface="Calibri"/>
              </a:rPr>
              <a:t>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548993" cy="237744"/>
          </a:xfrm>
          <a:prstGeom prst="rect">
            <a:avLst/>
          </a:prstGeom>
          <a:solidFill>
            <a:srgbClr val="180E07"/>
          </a:solidFill>
          <a:ln w="9525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96696"/>
            <a:ext cx="15489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8C42"/>
                </a:solidFill>
                <a:latin typeface="Calibri"/>
              </a:rPr>
              <a:t>CO-VENTURE ·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FF"/>
                </a:solidFill>
                <a:latin typeface="Calibri"/>
              </a:rPr>
              <a:t>Almukhtabar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2A4"/>
                </a:solidFill>
                <a:latin typeface="Calibri"/>
              </a:rPr>
              <a:t>المختبر   AI Newsroom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An AI-powered newsroom editor and publishing workspace built for writing, shaping, and releasing stories with clarity and speed. Intellivation is the technical co-venture partner behind the platform, live at newslb.com.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This project demonstrates our ability to deliver full AI product development end-to-end. From concept to production-grade software in a specialised domain.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99120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694176"/>
            <a:ext cx="99120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8C42"/>
                </a:solidFill>
                <a:latin typeface="Calibri"/>
              </a:rPr>
              <a:t>Editorial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31289" y="3657600"/>
            <a:ext cx="398678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4441" y="3694176"/>
            <a:ext cx="39867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8C42"/>
                </a:solidFill>
                <a:latin typeface="Calibri"/>
              </a:rPr>
              <a:t>NLP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3657600"/>
            <a:ext cx="99120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694176"/>
            <a:ext cx="99120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Web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4057" y="3657600"/>
            <a:ext cx="859536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7209" y="3694176"/>
            <a:ext cx="859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Publishing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5033" y="3657600"/>
            <a:ext cx="727862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8185" y="3694176"/>
            <a:ext cx="72786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  <a:latin typeface="Calibri"/>
              </a:rPr>
              <a:t>CORE EDITORIAL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676656"/>
            <a:ext cx="548640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841247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✍️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7315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Write and 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950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Draft articles with AI support for rewriting, tone adjustment, and readability improvement.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53895"/>
            <a:ext cx="548640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618487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150876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AI Assist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1728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Generate summaries, headlines, and social snippets to match the story intent in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31136"/>
            <a:ext cx="548640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3957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28600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Review and 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25054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Role-based access and review flow to move content safely from draft to publish.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08376"/>
            <a:ext cx="548640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1729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🗂️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0632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Organise and Publish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Tags, categories, and metadata keep the archive searchable. Consistent content release.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133087"/>
            <a:ext cx="5486400" cy="502920"/>
          </a:xfrm>
          <a:prstGeom prst="rect">
            <a:avLst/>
          </a:prstGeom>
          <a:solidFill>
            <a:srgbClr val="100C06"/>
          </a:solidFill>
          <a:ln w="6350">
            <a:solidFill>
              <a:srgbClr val="553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5"/>
                </a:solidFill>
                <a:latin typeface="Calibri"/>
              </a:rPr>
              <a:t>🌐  Live at newslb.com — a production platform where Intellivation is an active co-venture technical partner.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5"/>
                </a:solidFill>
                <a:latin typeface="Calibri"/>
              </a:rPr>
              <a:t>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598724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96696"/>
            <a:ext cx="25987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OWNED BY INTELLIVATION AB · R&amp;D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E5FF"/>
                </a:solidFill>
                <a:latin typeface="Calibri"/>
              </a:rPr>
              <a:t>Realify</a:t>
            </a:r>
            <a:r>
              <a:rPr sz="2400" b="1">
                <a:solidFill>
                  <a:srgbClr val="F4F4F5"/>
                </a:solidFill>
                <a:latin typeface="Calibri"/>
              </a:rPr>
              <a:t>
Reality Check for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We live in a world full of AI-generated content. It affects how we perceive reality and more importantly, how our children do. Realify detects what is real and what is AI-generated, then acts on that distinction for different audiences.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4"/>
                </a:solidFill>
                <a:latin typeface="Calibri"/>
              </a:rPr>
              <a:t>A simple label — AI or real — with a confidence score. For children, filtered protection. For public figures, an authenticity stamp only they can add.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47872"/>
            <a:ext cx="5303520" cy="475488"/>
          </a:xfrm>
          <a:prstGeom prst="rect">
            <a:avLst/>
          </a:prstGeom>
          <a:solidFill>
            <a:srgbClr val="070C0D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🔭  Current stage: R&amp;D and concept validation. Intellivation's next major owned product after CalorAI.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99120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197096"/>
            <a:ext cx="99120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  <a:latin typeface="Calibri"/>
              </a:rPr>
              <a:t>AI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31289" y="4160520"/>
            <a:ext cx="1188719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4441" y="4197096"/>
            <a:ext cx="1188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E5FF"/>
                </a:solidFill>
                <a:latin typeface="Calibri"/>
              </a:rPr>
              <a:t>Computer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11449" y="4160520"/>
            <a:ext cx="1386230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4601" y="4197096"/>
            <a:ext cx="13862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Deepfake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160520"/>
            <a:ext cx="1122883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4197096"/>
            <a:ext cx="112288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Content Safety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03443" y="4160520"/>
            <a:ext cx="398678" cy="219456"/>
          </a:xfrm>
          <a:prstGeom prst="rect">
            <a:avLst/>
          </a:prstGeom>
          <a:solidFill>
            <a:srgbClr val="11111A"/>
          </a:solidFill>
          <a:ln w="6350">
            <a:solidFill>
              <a:srgbClr val="889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6595" y="4197096"/>
            <a:ext cx="39867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4"/>
                </a:solidFill>
                <a:latin typeface="Calibri"/>
              </a:rPr>
              <a:t>R&amp;D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2A4"/>
                </a:solidFill>
                <a:latin typeface="Calibri"/>
              </a:rPr>
              <a:t>THREE-AUDIENCE 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676656"/>
            <a:ext cx="41148" cy="7498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676656"/>
            <a:ext cx="5440680" cy="74980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76809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👁️  For Adults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 simple AI or real label with a confidence score on every video or image. Full transparency so you always know what you are actually watching.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1545336"/>
            <a:ext cx="41148" cy="7498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1545336"/>
            <a:ext cx="5440680" cy="74980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63677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👧  For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9280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Flagged AI content is filtered before children see it. Kids should not have to question whether what they are watching is even real. That is our job.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2414015"/>
            <a:ext cx="41148" cy="7498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2414015"/>
            <a:ext cx="5440680" cy="74980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50545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⭐  For Celebrities &amp; Public Figures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6148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An electronic authenticity stamp, only the real person can add it. When you see a public figure online, you can instantly verify if they approved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383280"/>
            <a:ext cx="5486400" cy="1783080"/>
          </a:xfrm>
          <a:prstGeom prst="rect">
            <a:avLst/>
          </a:prstGeom>
          <a:solidFill>
            <a:srgbClr val="071014"/>
          </a:solidFill>
          <a:ln w="6350">
            <a:solidFill>
              <a:srgbClr val="00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74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🏆  Bästa Pitch  ·  IdéLab 2026  ·  Mälardalens Universitet</a:t>
            </a:r>
          </a:p>
        </p:txBody>
      </p:sp>
      <p:pic>
        <p:nvPicPr>
          <p:cNvPr id="37" name="Picture 36" descr="idelab-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67328"/>
            <a:ext cx="2468880" cy="1261872"/>
          </a:xfrm>
          <a:prstGeom prst="rect">
            <a:avLst/>
          </a:prstGeom>
        </p:spPr>
      </p:pic>
      <p:pic>
        <p:nvPicPr>
          <p:cNvPr id="38" name="Picture 37" descr="troph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767328"/>
            <a:ext cx="2468880" cy="12618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37960" y="50657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Winner of Best Pitch at IdéLab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08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474012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6615"/>
            <a:ext cx="14740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COMPANY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4F4F5"/>
                </a:solidFill>
                <a:latin typeface="Calibri"/>
              </a:rPr>
              <a:t>From first line of code to </a:t>
            </a:r>
            <a:r>
              <a:rPr sz="2200" b="1">
                <a:solidFill>
                  <a:srgbClr val="00E5FF"/>
                </a:solidFill>
                <a:latin typeface="Calibri"/>
              </a:rPr>
              <a:t>four live products.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" y="1325880"/>
            <a:ext cx="7315" cy="45720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371600"/>
            <a:ext cx="91440" cy="91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Late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0876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CalorAI development begins. Solo founder, no funding.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96596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Early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0312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CalorAI MVP live on Google Play. First organic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56032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9748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CalorAI grows from 10K to 120K+ downloads. Zero paid acquisition.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154680"/>
            <a:ext cx="91440" cy="91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089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Jan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9184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Intellivation AB incorporated. Realify R&amp;D begins. JuraCare project started.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749039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7033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Feb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88620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Almukhtabar development started as a co-venture.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34340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2976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48056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JuraCare launched at juracare.se.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93776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920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07492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  <a:latin typeface="Calibri"/>
              </a:rPr>
              <a:t>Almukhtabar launched at newslb.com.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5532120"/>
            <a:ext cx="91440" cy="91440"/>
          </a:xfrm>
          <a:prstGeom prst="rect">
            <a:avLst/>
          </a:prstGeom>
          <a:solidFill>
            <a:srgbClr val="33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4864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  <a:latin typeface="Courier New"/>
              </a:rPr>
              <a:t>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669280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4"/>
                </a:solidFill>
                <a:latin typeface="Calibri"/>
              </a:rPr>
              <a:t>CalorAI iOS launch. Sting Core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09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324051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56615"/>
            <a:ext cx="13240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4F4F5"/>
                </a:solidFill>
                <a:latin typeface="Calibri"/>
              </a:rPr>
              <a:t>Three revenue streams. </a:t>
            </a:r>
            <a:r>
              <a:rPr sz="2200" b="1">
                <a:solidFill>
                  <a:srgbClr val="00E5FF"/>
                </a:solidFill>
                <a:latin typeface="Calibri"/>
              </a:rPr>
              <a:t>Recurring at 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3474720" cy="1417320"/>
          </a:xfrm>
          <a:prstGeom prst="rect">
            <a:avLst/>
          </a:prstGeom>
          <a:solidFill>
            <a:srgbClr val="09161C"/>
          </a:solidFill>
          <a:ln w="6350">
            <a:solidFill>
              <a:srgbClr val="0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99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5"/>
                </a:solidFill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5"/>
                </a:solidFill>
                <a:latin typeface="Calibri"/>
              </a:rPr>
              <a:t>CalorAI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031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Freemium to subscription. Free tier drives scale; premium unlocks AI coach, full nutrients, meal planning, and offline mode.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100–150 SEK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389888"/>
            <a:ext cx="3474720" cy="141732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499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5"/>
                </a:solidFill>
                <a:latin typeface="Calibri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8653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5"/>
                </a:solidFill>
                <a:latin typeface="Calibri"/>
              </a:rPr>
              <a:t>AI Product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1031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End-to-end AI product development for clients and partners. JuraCare and Almukhtabar are proof. We build and ship production 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Project-based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4" y="1389888"/>
            <a:ext cx="3474720" cy="141732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499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5"/>
                </a:solidFill>
                <a:latin typeface="Calibr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8653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5"/>
                </a:solidFill>
                <a:latin typeface="Calibri"/>
              </a:rPr>
              <a:t>AI Consultancy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1031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AI strategy, architecture, and implementation for Swedish SMEs and enterprises. Revenue today that funds our owned product roadmap.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1,000 SEK / hour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63240"/>
            <a:ext cx="3657600" cy="86868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154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2026 —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3375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Monetise 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5570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Launch CalorAI premium, deliver 2-3 client projects, begin Realify validation.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063240"/>
            <a:ext cx="3657600" cy="86868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3154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2027 —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3375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Grow owned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35570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CalorAI to 1,000 paying users, Realify MVP, first hire.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063240"/>
            <a:ext cx="3657600" cy="868680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31546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2028 —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3375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Multi-product AI company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5570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B2B integrations, team of 2-3, recognised Swedish AI brand. Target: 1M+ SEK.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05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10 /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0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2062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4F4F5"/>
                </a:solidFill>
                <a:latin typeface="Calibri"/>
              </a:rPr>
              <a:t>Technical founder
who </a:t>
            </a:r>
            <a:r>
              <a:rPr sz="2600" b="1">
                <a:solidFill>
                  <a:srgbClr val="00E5FF"/>
                </a:solidFill>
                <a:latin typeface="Calibri"/>
              </a:rPr>
              <a:t>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5029200" cy="2148840"/>
          </a:xfrm>
          <a:prstGeom prst="rect">
            <a:avLst/>
          </a:prstGeom>
          <a:solidFill>
            <a:srgbClr val="081418"/>
          </a:solidFill>
          <a:ln w="6350">
            <a:solidFill>
              <a:srgbClr val="0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0280" y="178308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874519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8080C"/>
                </a:solidFill>
                <a:latin typeface="Calibri"/>
              </a:rPr>
              <a:t>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F4F5"/>
                </a:solidFill>
                <a:latin typeface="Calibri"/>
              </a:rPr>
              <a:t>Rani Meree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FF"/>
                </a:solidFill>
                <a:latin typeface="Calibri"/>
              </a:rPr>
              <a:t>Founder  ·  CEO  ·  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01568"/>
            <a:ext cx="599846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38144"/>
            <a:ext cx="59984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AI /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7086" y="3401568"/>
            <a:ext cx="1097280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1094" y="343814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Computer 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5806" y="3401568"/>
            <a:ext cx="351129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9814" y="3438144"/>
            <a:ext cx="3511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NLP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8376" y="3401568"/>
            <a:ext cx="786384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2384" y="3438144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Mobile 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3401568"/>
            <a:ext cx="1159459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3438144"/>
            <a:ext cx="11594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Product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786384" cy="2011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94176"/>
            <a:ext cx="786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Full-Stack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84048"/>
            <a:ext cx="585216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548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4389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4 products built before the company was even registered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658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CalorAI, JuraCare, Almukhtabar, and Realify were all developed before Intellivation AB was formally incorporated. That is the most credible proof of execution ability possible.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298448"/>
            <a:ext cx="585216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146303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13533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Full-stack AI from research to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7" y="1572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From model architecture to production engineering to app distribution to user growth, without an external team. This speed is a core strategic advantage.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212848"/>
            <a:ext cx="5852160" cy="658368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2377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5"/>
                </a:solidFill>
                <a:latin typeface="Calibri"/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22677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5"/>
                </a:solidFill>
                <a:latin typeface="Calibri"/>
              </a:rPr>
              <a:t>Diverse domain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7" y="2487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4"/>
                </a:solidFill>
                <a:latin typeface="Calibri"/>
              </a:rPr>
              <a:t>Health, legal, media, trust and safety. Each domain deepens our AI platform capabilities.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218688"/>
            <a:ext cx="5852160" cy="475488"/>
          </a:xfrm>
          <a:prstGeom prst="rect">
            <a:avLst/>
          </a:prstGeom>
          <a:solidFill>
            <a:srgbClr val="11111A"/>
          </a:solidFill>
          <a:ln w="63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3364992"/>
            <a:ext cx="109728" cy="10972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3192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  <a:latin typeface="Calibri"/>
              </a:rPr>
              <a:t>Actively seeking a commercial co-founder in growth, sales, and BD.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11887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4"/>
                </a:solidFill>
                <a:latin typeface="Courier New"/>
              </a:rPr>
              <a:t>11 /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4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822960"/>
            <a:ext cx="1773936" cy="237744"/>
          </a:xfrm>
          <a:prstGeom prst="rect">
            <a:avLst/>
          </a:prstGeom>
          <a:solidFill>
            <a:srgbClr val="071218"/>
          </a:solidFill>
          <a:ln w="952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79" y="859536"/>
            <a:ext cx="1773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5FF"/>
                </a:solidFill>
                <a:latin typeface="Calibri"/>
              </a:rPr>
              <a:t>LET'S BUILD TOGETHER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70432"/>
            <a:ext cx="2743200" cy="1837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310896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4F4F5"/>
                </a:solidFill>
                <a:latin typeface="Calibri"/>
              </a:rPr>
              <a:t>Intellivation AB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160520"/>
            <a:ext cx="2598724" cy="31089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4224528"/>
            <a:ext cx="25987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F4F5"/>
                </a:solidFill>
                <a:latin typeface="Calibri"/>
              </a:rPr>
              <a:t>👤  Rani Meree — Founder and 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5460" y="4160520"/>
            <a:ext cx="2073859" cy="31089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5188" y="4224528"/>
            <a:ext cx="20738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FF"/>
                </a:solidFill>
                <a:latin typeface="Calibri"/>
              </a:rPr>
              <a:t>📧  info@intellivation.io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4160520"/>
            <a:ext cx="1698955" cy="31089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4224528"/>
            <a:ext cx="16989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5FF"/>
                </a:solidFill>
                <a:latin typeface="Calibri"/>
              </a:rPr>
              <a:t>🌐  intellivation.io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4307" y="4160520"/>
            <a:ext cx="1698955" cy="31089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4035" y="4224528"/>
            <a:ext cx="16989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F4F5"/>
                </a:solidFill>
                <a:latin typeface="Calibri"/>
              </a:rPr>
              <a:t>📱  +46 70 045 67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1278" y="4160520"/>
            <a:ext cx="1698955" cy="310896"/>
          </a:xfrm>
          <a:prstGeom prst="rect">
            <a:avLst/>
          </a:prstGeom>
          <a:solidFill>
            <a:srgbClr val="11111A"/>
          </a:solidFill>
          <a:ln w="6350">
            <a:solidFill>
              <a:srgbClr val="22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1006" y="4224528"/>
            <a:ext cx="16989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A4"/>
                </a:solidFill>
                <a:latin typeface="Calibri"/>
              </a:rPr>
              <a:t>🏢  Org: 559579-9932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